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-1122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00FD8-1495-49DD-A7F3-58F004875E4F}" type="datetimeFigureOut">
              <a:rPr lang="es-VE" smtClean="0"/>
              <a:t>27/07/2016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0A287-AF0A-4DE9-B4BA-223EF4A309E0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275841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00FD8-1495-49DD-A7F3-58F004875E4F}" type="datetimeFigureOut">
              <a:rPr lang="es-VE" smtClean="0"/>
              <a:t>27/07/2016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0A287-AF0A-4DE9-B4BA-223EF4A309E0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775091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00FD8-1495-49DD-A7F3-58F004875E4F}" type="datetimeFigureOut">
              <a:rPr lang="es-VE" smtClean="0"/>
              <a:t>27/07/2016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0A287-AF0A-4DE9-B4BA-223EF4A309E0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808778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00FD8-1495-49DD-A7F3-58F004875E4F}" type="datetimeFigureOut">
              <a:rPr lang="es-VE" smtClean="0"/>
              <a:t>27/07/2016</a:t>
            </a:fld>
            <a:endParaRPr lang="es-V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0A287-AF0A-4DE9-B4BA-223EF4A309E0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87011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00FD8-1495-49DD-A7F3-58F004875E4F}" type="datetimeFigureOut">
              <a:rPr lang="es-VE" smtClean="0"/>
              <a:t>27/07/2016</a:t>
            </a:fld>
            <a:endParaRPr lang="es-VE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0A287-AF0A-4DE9-B4BA-223EF4A309E0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799967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00FD8-1495-49DD-A7F3-58F004875E4F}" type="datetimeFigureOut">
              <a:rPr lang="es-VE" smtClean="0"/>
              <a:t>27/07/2016</a:t>
            </a:fld>
            <a:endParaRPr lang="es-VE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0A287-AF0A-4DE9-B4BA-223EF4A309E0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522215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00FD8-1495-49DD-A7F3-58F004875E4F}" type="datetimeFigureOut">
              <a:rPr lang="es-VE" smtClean="0"/>
              <a:t>27/07/2016</a:t>
            </a:fld>
            <a:endParaRPr lang="es-VE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0A287-AF0A-4DE9-B4BA-223EF4A309E0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4200692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00FD8-1495-49DD-A7F3-58F004875E4F}" type="datetimeFigureOut">
              <a:rPr lang="es-VE" smtClean="0"/>
              <a:t>27/07/2016</a:t>
            </a:fld>
            <a:endParaRPr lang="es-V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0A287-AF0A-4DE9-B4BA-223EF4A309E0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904096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VE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00FD8-1495-49DD-A7F3-58F004875E4F}" type="datetimeFigureOut">
              <a:rPr lang="es-VE" smtClean="0"/>
              <a:t>27/07/2016</a:t>
            </a:fld>
            <a:endParaRPr lang="es-V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0A287-AF0A-4DE9-B4BA-223EF4A309E0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031449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00FD8-1495-49DD-A7F3-58F004875E4F}" type="datetimeFigureOut">
              <a:rPr lang="es-VE" smtClean="0"/>
              <a:t>27/07/2016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0A287-AF0A-4DE9-B4BA-223EF4A309E0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929114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00FD8-1495-49DD-A7F3-58F004875E4F}" type="datetimeFigureOut">
              <a:rPr lang="es-VE" smtClean="0"/>
              <a:t>27/07/2016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0A287-AF0A-4DE9-B4BA-223EF4A309E0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321532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700FD8-1495-49DD-A7F3-58F004875E4F}" type="datetimeFigureOut">
              <a:rPr lang="es-VE" smtClean="0"/>
              <a:t>27/07/2016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40A287-AF0A-4DE9-B4BA-223EF4A309E0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837578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V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3131840" y="476672"/>
            <a:ext cx="2808312" cy="830997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VE" sz="1200" b="1" dirty="0" smtClean="0">
                <a:latin typeface="Arial" pitchFamily="34" charset="0"/>
                <a:cs typeface="Arial" pitchFamily="34" charset="0"/>
              </a:rPr>
              <a:t>DIRECTOR GENERAL DE SALUD AMBIENTAL</a:t>
            </a:r>
          </a:p>
          <a:p>
            <a:pPr algn="ctr"/>
            <a:r>
              <a:rPr lang="en-US" sz="1200" dirty="0" smtClean="0">
                <a:latin typeface="Arial" pitchFamily="34" charset="0"/>
                <a:cs typeface="Arial" pitchFamily="34" charset="0"/>
              </a:rPr>
              <a:t>ING. ANGEL GONZALEZ</a:t>
            </a:r>
            <a:endParaRPr lang="es-VE" sz="1200" dirty="0" smtClean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s-VE" sz="1200" dirty="0" smtClean="0">
                <a:latin typeface="Arial" pitchFamily="34" charset="0"/>
                <a:cs typeface="Arial" pitchFamily="34" charset="0"/>
              </a:rPr>
              <a:t>CODIGO</a:t>
            </a:r>
            <a:r>
              <a:rPr lang="en-US" sz="1200" dirty="0" smtClean="0">
                <a:latin typeface="Arial" pitchFamily="34" charset="0"/>
                <a:cs typeface="Arial" pitchFamily="34" charset="0"/>
              </a:rPr>
              <a:t>: 99160</a:t>
            </a:r>
            <a:endParaRPr lang="es-VE" sz="1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4 CuadroTexto"/>
          <p:cNvSpPr txBox="1"/>
          <p:nvPr/>
        </p:nvSpPr>
        <p:spPr>
          <a:xfrm>
            <a:off x="382165" y="268835"/>
            <a:ext cx="1957587" cy="55399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000" dirty="0" smtClean="0">
                <a:latin typeface="Arial" pitchFamily="34" charset="0"/>
                <a:cs typeface="Arial" pitchFamily="34" charset="0"/>
              </a:rPr>
              <a:t>ADJUNTO  AL DESPACHO</a:t>
            </a:r>
          </a:p>
          <a:p>
            <a:pPr algn="ctr"/>
            <a:r>
              <a:rPr lang="en-US" sz="1000" dirty="0" smtClean="0">
                <a:latin typeface="Arial" pitchFamily="34" charset="0"/>
                <a:cs typeface="Arial" pitchFamily="34" charset="0"/>
              </a:rPr>
              <a:t>ABOG. ESKERLEY ESQUEDA</a:t>
            </a:r>
          </a:p>
          <a:p>
            <a:pPr algn="ctr"/>
            <a:r>
              <a:rPr lang="en-US" sz="1000" dirty="0" smtClean="0">
                <a:latin typeface="Arial" pitchFamily="34" charset="0"/>
                <a:cs typeface="Arial" pitchFamily="34" charset="0"/>
              </a:rPr>
              <a:t>CODIGO: 99161</a:t>
            </a:r>
            <a:endParaRPr lang="es-VE" sz="1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5 CuadroTexto"/>
          <p:cNvSpPr txBox="1"/>
          <p:nvPr/>
        </p:nvSpPr>
        <p:spPr>
          <a:xfrm>
            <a:off x="441475" y="1074802"/>
            <a:ext cx="1838965" cy="55399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000" dirty="0" smtClean="0">
                <a:latin typeface="Arial" pitchFamily="34" charset="0"/>
                <a:cs typeface="Arial" pitchFamily="34" charset="0"/>
              </a:rPr>
              <a:t>ASISTENTE AL DESPACHO</a:t>
            </a:r>
          </a:p>
          <a:p>
            <a:pPr algn="ctr"/>
            <a:r>
              <a:rPr lang="en-US" sz="1000" dirty="0" smtClean="0">
                <a:latin typeface="Arial" pitchFamily="34" charset="0"/>
                <a:cs typeface="Arial" pitchFamily="34" charset="0"/>
              </a:rPr>
              <a:t>ING. DENNIS QUIÑONES</a:t>
            </a:r>
          </a:p>
          <a:p>
            <a:pPr algn="ctr"/>
            <a:r>
              <a:rPr lang="en-US" sz="1000" dirty="0" smtClean="0">
                <a:latin typeface="Arial" pitchFamily="34" charset="0"/>
                <a:cs typeface="Arial" pitchFamily="34" charset="0"/>
              </a:rPr>
              <a:t>CODIGO: 99162</a:t>
            </a:r>
            <a:endParaRPr lang="es-VE" sz="1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6 CuadroTexto"/>
          <p:cNvSpPr txBox="1"/>
          <p:nvPr/>
        </p:nvSpPr>
        <p:spPr>
          <a:xfrm>
            <a:off x="212500" y="2420888"/>
            <a:ext cx="2007281" cy="707886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000" b="1" dirty="0" smtClean="0">
                <a:latin typeface="Arial" pitchFamily="34" charset="0"/>
                <a:cs typeface="Arial" pitchFamily="34" charset="0"/>
              </a:rPr>
              <a:t>DIRECCION DE </a:t>
            </a:r>
          </a:p>
          <a:p>
            <a:pPr algn="ctr"/>
            <a:r>
              <a:rPr lang="en-US" sz="1000" b="1" dirty="0" smtClean="0">
                <a:latin typeface="Arial" pitchFamily="34" charset="0"/>
                <a:cs typeface="Arial" pitchFamily="34" charset="0"/>
              </a:rPr>
              <a:t>EPIDEMIOLOGIA AMBIENTAL</a:t>
            </a:r>
          </a:p>
          <a:p>
            <a:pPr algn="ctr"/>
            <a:r>
              <a:rPr lang="en-US" sz="1000" dirty="0" smtClean="0">
                <a:latin typeface="Arial" pitchFamily="34" charset="0"/>
                <a:cs typeface="Arial" pitchFamily="34" charset="0"/>
              </a:rPr>
              <a:t>DRA. BRENDA GARCIA</a:t>
            </a:r>
          </a:p>
          <a:p>
            <a:pPr algn="ctr"/>
            <a:r>
              <a:rPr lang="en-US" sz="1000" dirty="0" smtClean="0">
                <a:latin typeface="Arial" pitchFamily="34" charset="0"/>
                <a:cs typeface="Arial" pitchFamily="34" charset="0"/>
              </a:rPr>
              <a:t>CODIGO: 99164</a:t>
            </a:r>
            <a:endParaRPr lang="es-VE" sz="1000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7 CuadroTexto"/>
          <p:cNvSpPr txBox="1"/>
          <p:nvPr/>
        </p:nvSpPr>
        <p:spPr>
          <a:xfrm>
            <a:off x="2497393" y="2411710"/>
            <a:ext cx="2074607" cy="861774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000" b="1" dirty="0" smtClean="0">
                <a:latin typeface="Arial" pitchFamily="34" charset="0"/>
                <a:cs typeface="Arial" pitchFamily="34" charset="0"/>
              </a:rPr>
              <a:t>DIRECCION  DE CONTROL  </a:t>
            </a:r>
          </a:p>
          <a:p>
            <a:pPr algn="ctr"/>
            <a:r>
              <a:rPr lang="en-US" sz="1000" b="1" dirty="0" smtClean="0">
                <a:latin typeface="Arial" pitchFamily="34" charset="0"/>
                <a:cs typeface="Arial" pitchFamily="34" charset="0"/>
              </a:rPr>
              <a:t>DE VECTORES,RESERVORIOS</a:t>
            </a:r>
          </a:p>
          <a:p>
            <a:pPr algn="ctr"/>
            <a:r>
              <a:rPr lang="en-US" sz="1000" b="1" dirty="0" smtClean="0">
                <a:latin typeface="Arial" pitchFamily="34" charset="0"/>
                <a:cs typeface="Arial" pitchFamily="34" charset="0"/>
              </a:rPr>
              <a:t> Y FAUNA NOCIVA</a:t>
            </a:r>
          </a:p>
          <a:p>
            <a:pPr algn="ctr"/>
            <a:r>
              <a:rPr lang="en-US" sz="1000" dirty="0" smtClean="0">
                <a:latin typeface="Arial" pitchFamily="34" charset="0"/>
                <a:cs typeface="Arial" pitchFamily="34" charset="0"/>
              </a:rPr>
              <a:t>LIC. RUBEN PAACIOS</a:t>
            </a:r>
          </a:p>
          <a:p>
            <a:pPr algn="ctr"/>
            <a:r>
              <a:rPr lang="en-US" sz="1000" dirty="0" smtClean="0">
                <a:latin typeface="Arial" pitchFamily="34" charset="0"/>
                <a:cs typeface="Arial" pitchFamily="34" charset="0"/>
              </a:rPr>
              <a:t>CODIGO:99168</a:t>
            </a:r>
            <a:endParaRPr lang="es-VE" sz="1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8 CuadroTexto"/>
          <p:cNvSpPr txBox="1"/>
          <p:nvPr/>
        </p:nvSpPr>
        <p:spPr>
          <a:xfrm>
            <a:off x="5033792" y="2420888"/>
            <a:ext cx="1574470" cy="707886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000" b="1" dirty="0" smtClean="0">
                <a:latin typeface="Arial" pitchFamily="34" charset="0"/>
                <a:cs typeface="Arial" pitchFamily="34" charset="0"/>
              </a:rPr>
              <a:t>DIRECCION DE </a:t>
            </a:r>
          </a:p>
          <a:p>
            <a:pPr algn="ctr"/>
            <a:r>
              <a:rPr lang="en-US" sz="1000" b="1" dirty="0" smtClean="0">
                <a:latin typeface="Arial" pitchFamily="34" charset="0"/>
                <a:cs typeface="Arial" pitchFamily="34" charset="0"/>
              </a:rPr>
              <a:t>SALUD RADIOLOGICA</a:t>
            </a:r>
          </a:p>
          <a:p>
            <a:pPr algn="ctr"/>
            <a:r>
              <a:rPr lang="en-US" sz="1000" dirty="0" smtClean="0">
                <a:latin typeface="Arial" pitchFamily="34" charset="0"/>
                <a:cs typeface="Arial" pitchFamily="34" charset="0"/>
              </a:rPr>
              <a:t>ING. CARMEN GIRON</a:t>
            </a:r>
          </a:p>
          <a:p>
            <a:pPr algn="ctr"/>
            <a:r>
              <a:rPr lang="en-US" sz="1000" dirty="0" smtClean="0">
                <a:latin typeface="Arial" pitchFamily="34" charset="0"/>
                <a:cs typeface="Arial" pitchFamily="34" charset="0"/>
              </a:rPr>
              <a:t>CODIGO:99172</a:t>
            </a:r>
            <a:endParaRPr lang="es-VE" sz="1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9 CuadroTexto"/>
          <p:cNvSpPr txBox="1"/>
          <p:nvPr/>
        </p:nvSpPr>
        <p:spPr>
          <a:xfrm>
            <a:off x="7018630" y="2420888"/>
            <a:ext cx="1681871" cy="861774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000" b="1" dirty="0" smtClean="0">
                <a:latin typeface="Arial" pitchFamily="34" charset="0"/>
                <a:cs typeface="Arial" pitchFamily="34" charset="0"/>
              </a:rPr>
              <a:t>DIRECCION DE </a:t>
            </a:r>
          </a:p>
          <a:p>
            <a:pPr algn="ctr"/>
            <a:r>
              <a:rPr lang="en-US" sz="1000" b="1" dirty="0" smtClean="0">
                <a:latin typeface="Arial" pitchFamily="34" charset="0"/>
                <a:cs typeface="Arial" pitchFamily="34" charset="0"/>
              </a:rPr>
              <a:t>GESTION DE RIESGO</a:t>
            </a:r>
          </a:p>
          <a:p>
            <a:pPr algn="ctr"/>
            <a:r>
              <a:rPr lang="en-US" sz="1000" b="1" dirty="0" smtClean="0">
                <a:latin typeface="Arial" pitchFamily="34" charset="0"/>
                <a:cs typeface="Arial" pitchFamily="34" charset="0"/>
              </a:rPr>
              <a:t>SANITARIO AMBIENTAL</a:t>
            </a:r>
          </a:p>
          <a:p>
            <a:pPr algn="ctr"/>
            <a:r>
              <a:rPr lang="en-US" sz="1000" dirty="0" smtClean="0">
                <a:latin typeface="Arial" pitchFamily="34" charset="0"/>
                <a:cs typeface="Arial" pitchFamily="34" charset="0"/>
              </a:rPr>
              <a:t>ING. CESAR SANCHEZ</a:t>
            </a:r>
          </a:p>
          <a:p>
            <a:pPr algn="ctr"/>
            <a:r>
              <a:rPr lang="en-US" sz="1000" dirty="0" smtClean="0">
                <a:latin typeface="Arial" pitchFamily="34" charset="0"/>
                <a:cs typeface="Arial" pitchFamily="34" charset="0"/>
              </a:rPr>
              <a:t>CODIGO: 99175</a:t>
            </a:r>
            <a:endParaRPr lang="es-VE" sz="1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10 CuadroTexto"/>
          <p:cNvSpPr txBox="1"/>
          <p:nvPr/>
        </p:nvSpPr>
        <p:spPr>
          <a:xfrm>
            <a:off x="381616" y="3645024"/>
            <a:ext cx="1669047" cy="553998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000" b="1" dirty="0" smtClean="0">
                <a:latin typeface="Arial" pitchFamily="34" charset="0"/>
                <a:cs typeface="Arial" pitchFamily="34" charset="0"/>
              </a:rPr>
              <a:t>COORD. VIG. EPID. AMB</a:t>
            </a:r>
          </a:p>
          <a:p>
            <a:pPr algn="ctr"/>
            <a:r>
              <a:rPr lang="en-US" sz="1000" dirty="0" smtClean="0">
                <a:latin typeface="Arial" pitchFamily="34" charset="0"/>
                <a:cs typeface="Arial" pitchFamily="34" charset="0"/>
              </a:rPr>
              <a:t>DR. JESUS TORO</a:t>
            </a:r>
          </a:p>
          <a:p>
            <a:pPr algn="ctr"/>
            <a:r>
              <a:rPr lang="en-US" sz="1000" dirty="0" smtClean="0">
                <a:latin typeface="Arial" pitchFamily="34" charset="0"/>
                <a:cs typeface="Arial" pitchFamily="34" charset="0"/>
              </a:rPr>
              <a:t>CODIGO: 99165</a:t>
            </a:r>
            <a:endParaRPr lang="es-VE" sz="1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11 CuadroTexto"/>
          <p:cNvSpPr txBox="1"/>
          <p:nvPr/>
        </p:nvSpPr>
        <p:spPr>
          <a:xfrm>
            <a:off x="369595" y="4593322"/>
            <a:ext cx="1579278" cy="707886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000" b="1" dirty="0" smtClean="0">
                <a:latin typeface="Arial" pitchFamily="34" charset="0"/>
                <a:cs typeface="Arial" pitchFamily="34" charset="0"/>
              </a:rPr>
              <a:t>COORD. SUPERV. </a:t>
            </a:r>
          </a:p>
          <a:p>
            <a:pPr algn="ctr"/>
            <a:r>
              <a:rPr lang="en-US" sz="1000" b="1" dirty="0" smtClean="0">
                <a:latin typeface="Arial" pitchFamily="34" charset="0"/>
                <a:cs typeface="Arial" pitchFamily="34" charset="0"/>
              </a:rPr>
              <a:t>Y APOYO TECNICO</a:t>
            </a:r>
          </a:p>
          <a:p>
            <a:pPr algn="ctr"/>
            <a:r>
              <a:rPr lang="en-US" sz="1000" dirty="0" smtClean="0">
                <a:latin typeface="Arial" pitchFamily="34" charset="0"/>
                <a:cs typeface="Arial" pitchFamily="34" charset="0"/>
              </a:rPr>
              <a:t>DR.A. WILMAN GOMEZ</a:t>
            </a:r>
          </a:p>
          <a:p>
            <a:pPr algn="ctr"/>
            <a:r>
              <a:rPr lang="en-US" sz="1000" dirty="0" smtClean="0">
                <a:latin typeface="Arial" pitchFamily="34" charset="0"/>
                <a:cs typeface="Arial" pitchFamily="34" charset="0"/>
              </a:rPr>
              <a:t>CODIGO: 99166</a:t>
            </a:r>
            <a:endParaRPr lang="es-VE" sz="1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12 CuadroTexto"/>
          <p:cNvSpPr txBox="1"/>
          <p:nvPr/>
        </p:nvSpPr>
        <p:spPr>
          <a:xfrm>
            <a:off x="424095" y="5745450"/>
            <a:ext cx="1584088" cy="707886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000" b="1" dirty="0" smtClean="0">
                <a:latin typeface="Arial" pitchFamily="34" charset="0"/>
                <a:cs typeface="Arial" pitchFamily="34" charset="0"/>
              </a:rPr>
              <a:t>COORD. PROM. </a:t>
            </a:r>
          </a:p>
          <a:p>
            <a:pPr algn="ctr"/>
            <a:r>
              <a:rPr lang="en-US" sz="1000" b="1" dirty="0" smtClean="0">
                <a:latin typeface="Arial" pitchFamily="34" charset="0"/>
                <a:cs typeface="Arial" pitchFamily="34" charset="0"/>
              </a:rPr>
              <a:t>PARA LA SALUD</a:t>
            </a:r>
          </a:p>
          <a:p>
            <a:pPr algn="ctr"/>
            <a:r>
              <a:rPr lang="en-US" sz="1000" dirty="0" smtClean="0">
                <a:latin typeface="Arial" pitchFamily="34" charset="0"/>
                <a:cs typeface="Arial" pitchFamily="34" charset="0"/>
              </a:rPr>
              <a:t>LIC. ANAHIS CABRERA</a:t>
            </a:r>
          </a:p>
          <a:p>
            <a:pPr algn="ctr"/>
            <a:r>
              <a:rPr lang="en-US" sz="1000" dirty="0" smtClean="0">
                <a:latin typeface="Arial" pitchFamily="34" charset="0"/>
                <a:cs typeface="Arial" pitchFamily="34" charset="0"/>
              </a:rPr>
              <a:t>CODIGO: 99167</a:t>
            </a:r>
            <a:endParaRPr lang="es-VE" sz="1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13 CuadroTexto"/>
          <p:cNvSpPr txBox="1"/>
          <p:nvPr/>
        </p:nvSpPr>
        <p:spPr>
          <a:xfrm>
            <a:off x="2524535" y="3811106"/>
            <a:ext cx="2068195" cy="553998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000" b="1" dirty="0" smtClean="0">
                <a:latin typeface="Arial" pitchFamily="34" charset="0"/>
                <a:cs typeface="Arial" pitchFamily="34" charset="0"/>
              </a:rPr>
              <a:t>COORD. VIG. ENTOMOLOGICA</a:t>
            </a:r>
          </a:p>
          <a:p>
            <a:pPr algn="ctr"/>
            <a:r>
              <a:rPr lang="en-US" sz="1000" dirty="0" smtClean="0">
                <a:latin typeface="Arial" pitchFamily="34" charset="0"/>
                <a:cs typeface="Arial" pitchFamily="34" charset="0"/>
              </a:rPr>
              <a:t>ING. WILFREDO POLANCO</a:t>
            </a:r>
          </a:p>
          <a:p>
            <a:pPr algn="ctr"/>
            <a:r>
              <a:rPr lang="en-US" sz="1000" dirty="0" smtClean="0">
                <a:latin typeface="Arial" pitchFamily="34" charset="0"/>
                <a:cs typeface="Arial" pitchFamily="34" charset="0"/>
              </a:rPr>
              <a:t>CODIGO: 99169</a:t>
            </a:r>
            <a:endParaRPr lang="es-VE" sz="1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6" name="15 CuadroTexto"/>
          <p:cNvSpPr txBox="1"/>
          <p:nvPr/>
        </p:nvSpPr>
        <p:spPr>
          <a:xfrm>
            <a:off x="2543988" y="4725144"/>
            <a:ext cx="2069797" cy="707886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000" b="1" dirty="0" smtClean="0">
                <a:latin typeface="Arial" pitchFamily="34" charset="0"/>
                <a:cs typeface="Arial" pitchFamily="34" charset="0"/>
              </a:rPr>
              <a:t>COORD. CONTROL ZOONOSIS</a:t>
            </a:r>
          </a:p>
          <a:p>
            <a:pPr algn="ctr"/>
            <a:r>
              <a:rPr lang="en-US" sz="1000" b="1" dirty="0" smtClean="0">
                <a:latin typeface="Arial" pitchFamily="34" charset="0"/>
                <a:cs typeface="Arial" pitchFamily="34" charset="0"/>
              </a:rPr>
              <a:t>Y RESERVORIOS</a:t>
            </a:r>
          </a:p>
          <a:p>
            <a:pPr algn="ctr"/>
            <a:r>
              <a:rPr lang="en-US" sz="1000" dirty="0" smtClean="0">
                <a:latin typeface="Arial" pitchFamily="34" charset="0"/>
                <a:cs typeface="Arial" pitchFamily="34" charset="0"/>
              </a:rPr>
              <a:t>ING. JESUS BOADA</a:t>
            </a:r>
          </a:p>
          <a:p>
            <a:pPr algn="ctr"/>
            <a:r>
              <a:rPr lang="en-US" sz="1000" dirty="0" smtClean="0">
                <a:latin typeface="Arial" pitchFamily="34" charset="0"/>
                <a:cs typeface="Arial" pitchFamily="34" charset="0"/>
              </a:rPr>
              <a:t>CODIGO: 99170</a:t>
            </a:r>
            <a:endParaRPr lang="es-VE" sz="1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" name="16 CuadroTexto"/>
          <p:cNvSpPr txBox="1"/>
          <p:nvPr/>
        </p:nvSpPr>
        <p:spPr>
          <a:xfrm>
            <a:off x="2521084" y="5733256"/>
            <a:ext cx="2350323" cy="553998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000" b="1" dirty="0" smtClean="0">
                <a:latin typeface="Arial" pitchFamily="34" charset="0"/>
                <a:cs typeface="Arial" pitchFamily="34" charset="0"/>
              </a:rPr>
              <a:t>COORD. CONTROL OPERACIONAL</a:t>
            </a:r>
          </a:p>
          <a:p>
            <a:pPr algn="ctr"/>
            <a:r>
              <a:rPr lang="en-US" sz="1000" dirty="0" smtClean="0">
                <a:latin typeface="Arial" pitchFamily="34" charset="0"/>
                <a:cs typeface="Arial" pitchFamily="34" charset="0"/>
              </a:rPr>
              <a:t>INSP. ENRIQUE PAEZ</a:t>
            </a:r>
          </a:p>
          <a:p>
            <a:pPr algn="ctr"/>
            <a:r>
              <a:rPr lang="en-US" sz="1000" dirty="0" smtClean="0">
                <a:latin typeface="Arial" pitchFamily="34" charset="0"/>
                <a:cs typeface="Arial" pitchFamily="34" charset="0"/>
              </a:rPr>
              <a:t>CODIGO: 99171</a:t>
            </a:r>
            <a:endParaRPr lang="es-VE" sz="1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8" name="17 CuadroTexto"/>
          <p:cNvSpPr txBox="1"/>
          <p:nvPr/>
        </p:nvSpPr>
        <p:spPr>
          <a:xfrm>
            <a:off x="5109680" y="3503330"/>
            <a:ext cx="1630575" cy="861774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000" b="1" dirty="0" smtClean="0">
                <a:latin typeface="Arial" pitchFamily="34" charset="0"/>
                <a:cs typeface="Arial" pitchFamily="34" charset="0"/>
              </a:rPr>
              <a:t>COORD. REGULACION </a:t>
            </a:r>
          </a:p>
          <a:p>
            <a:pPr algn="ctr"/>
            <a:r>
              <a:rPr lang="en-US" sz="1000" b="1" dirty="0" smtClean="0">
                <a:latin typeface="Arial" pitchFamily="34" charset="0"/>
                <a:cs typeface="Arial" pitchFamily="34" charset="0"/>
              </a:rPr>
              <a:t>Y CONTROL</a:t>
            </a:r>
          </a:p>
          <a:p>
            <a:pPr algn="ctr"/>
            <a:r>
              <a:rPr lang="en-US" sz="1000" b="1" dirty="0" smtClean="0">
                <a:latin typeface="Arial" pitchFamily="34" charset="0"/>
                <a:cs typeface="Arial" pitchFamily="34" charset="0"/>
              </a:rPr>
              <a:t>DE RADIACIONES</a:t>
            </a:r>
          </a:p>
          <a:p>
            <a:pPr algn="ctr"/>
            <a:r>
              <a:rPr lang="en-US" sz="1000" dirty="0" smtClean="0">
                <a:latin typeface="Arial" pitchFamily="34" charset="0"/>
                <a:cs typeface="Arial" pitchFamily="34" charset="0"/>
              </a:rPr>
              <a:t>DR. MIGEL ZERPA</a:t>
            </a:r>
          </a:p>
          <a:p>
            <a:pPr algn="ctr"/>
            <a:r>
              <a:rPr lang="en-US" sz="1000" dirty="0" smtClean="0">
                <a:latin typeface="Arial" pitchFamily="34" charset="0"/>
                <a:cs typeface="Arial" pitchFamily="34" charset="0"/>
              </a:rPr>
              <a:t>CODIGO: 99173</a:t>
            </a:r>
            <a:endParaRPr lang="es-VE" sz="1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18 CuadroTexto"/>
          <p:cNvSpPr txBox="1"/>
          <p:nvPr/>
        </p:nvSpPr>
        <p:spPr>
          <a:xfrm>
            <a:off x="5055089" y="4583450"/>
            <a:ext cx="1736374" cy="861774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000" b="1" dirty="0" smtClean="0">
                <a:latin typeface="Arial" pitchFamily="34" charset="0"/>
                <a:cs typeface="Arial" pitchFamily="34" charset="0"/>
              </a:rPr>
              <a:t>COORD. PROTEC. EN </a:t>
            </a:r>
          </a:p>
          <a:p>
            <a:pPr algn="ctr"/>
            <a:r>
              <a:rPr lang="en-US" sz="1000" b="1" dirty="0" smtClean="0">
                <a:latin typeface="Arial" pitchFamily="34" charset="0"/>
                <a:cs typeface="Arial" pitchFamily="34" charset="0"/>
              </a:rPr>
              <a:t>HIGIENE DE LAS </a:t>
            </a:r>
          </a:p>
          <a:p>
            <a:pPr algn="ctr"/>
            <a:r>
              <a:rPr lang="en-US" sz="1000" b="1" dirty="0" smtClean="0">
                <a:latin typeface="Arial" pitchFamily="34" charset="0"/>
                <a:cs typeface="Arial" pitchFamily="34" charset="0"/>
              </a:rPr>
              <a:t>RADIACIONES</a:t>
            </a:r>
          </a:p>
          <a:p>
            <a:pPr algn="ctr"/>
            <a:r>
              <a:rPr lang="en-US" sz="1000" dirty="0" smtClean="0">
                <a:latin typeface="Arial" pitchFamily="34" charset="0"/>
                <a:cs typeface="Arial" pitchFamily="34" charset="0"/>
              </a:rPr>
              <a:t>ING. EDWARS MARTINEZ</a:t>
            </a:r>
          </a:p>
          <a:p>
            <a:pPr algn="ctr"/>
            <a:r>
              <a:rPr lang="en-US" sz="1000" dirty="0" smtClean="0">
                <a:latin typeface="Arial" pitchFamily="34" charset="0"/>
                <a:cs typeface="Arial" pitchFamily="34" charset="0"/>
              </a:rPr>
              <a:t>CODIGO: 99174</a:t>
            </a:r>
            <a:endParaRPr lang="es-VE" sz="1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" name="20 CuadroTexto"/>
          <p:cNvSpPr txBox="1"/>
          <p:nvPr/>
        </p:nvSpPr>
        <p:spPr>
          <a:xfrm>
            <a:off x="7195635" y="3657218"/>
            <a:ext cx="1417375" cy="707886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000" b="1" dirty="0" smtClean="0">
                <a:latin typeface="Arial" pitchFamily="34" charset="0"/>
                <a:cs typeface="Arial" pitchFamily="34" charset="0"/>
              </a:rPr>
              <a:t>COORD. RESIDUOS</a:t>
            </a:r>
          </a:p>
          <a:p>
            <a:pPr algn="ctr"/>
            <a:r>
              <a:rPr lang="en-US" sz="1000" b="1" dirty="0" smtClean="0">
                <a:latin typeface="Arial" pitchFamily="34" charset="0"/>
                <a:cs typeface="Arial" pitchFamily="34" charset="0"/>
              </a:rPr>
              <a:t> Y DESECHOS</a:t>
            </a:r>
          </a:p>
          <a:p>
            <a:pPr algn="ctr"/>
            <a:r>
              <a:rPr lang="en-US" sz="1000" dirty="0" smtClean="0">
                <a:latin typeface="Arial" pitchFamily="34" charset="0"/>
                <a:cs typeface="Arial" pitchFamily="34" charset="0"/>
              </a:rPr>
              <a:t>VACANTE</a:t>
            </a:r>
            <a:endParaRPr lang="en-US" sz="1000" dirty="0" smtClean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US" sz="1000" dirty="0" smtClean="0">
                <a:latin typeface="Arial" pitchFamily="34" charset="0"/>
                <a:cs typeface="Arial" pitchFamily="34" charset="0"/>
              </a:rPr>
              <a:t>CODIGO: 99176</a:t>
            </a:r>
            <a:endParaRPr lang="es-VE" sz="1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21 CuadroTexto"/>
          <p:cNvSpPr txBox="1"/>
          <p:nvPr/>
        </p:nvSpPr>
        <p:spPr>
          <a:xfrm>
            <a:off x="7092280" y="4581128"/>
            <a:ext cx="1564852" cy="707886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000" b="1" dirty="0" smtClean="0">
                <a:latin typeface="Arial" pitchFamily="34" charset="0"/>
                <a:cs typeface="Arial" pitchFamily="34" charset="0"/>
              </a:rPr>
              <a:t>COORD. AGUAS,</a:t>
            </a:r>
          </a:p>
          <a:p>
            <a:pPr algn="ctr"/>
            <a:r>
              <a:rPr lang="en-US" sz="1000" b="1" dirty="0" smtClean="0">
                <a:latin typeface="Arial" pitchFamily="34" charset="0"/>
                <a:cs typeface="Arial" pitchFamily="34" charset="0"/>
              </a:rPr>
              <a:t> AIRE Y EDIF</a:t>
            </a:r>
          </a:p>
          <a:p>
            <a:pPr algn="ctr"/>
            <a:r>
              <a:rPr lang="en-US" sz="1000" dirty="0" smtClean="0">
                <a:latin typeface="Arial" pitchFamily="34" charset="0"/>
                <a:cs typeface="Arial" pitchFamily="34" charset="0"/>
              </a:rPr>
              <a:t>SR. CESAR MARTINEZ</a:t>
            </a:r>
          </a:p>
          <a:p>
            <a:pPr algn="ctr"/>
            <a:r>
              <a:rPr lang="en-US" sz="1000" dirty="0" smtClean="0">
                <a:latin typeface="Arial" pitchFamily="34" charset="0"/>
                <a:cs typeface="Arial" pitchFamily="34" charset="0"/>
              </a:rPr>
              <a:t>CODIGO: 99177</a:t>
            </a:r>
            <a:endParaRPr lang="es-VE" sz="1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3" name="22 CuadroTexto"/>
          <p:cNvSpPr txBox="1"/>
          <p:nvPr/>
        </p:nvSpPr>
        <p:spPr>
          <a:xfrm>
            <a:off x="6990997" y="5589240"/>
            <a:ext cx="1901483" cy="707886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000" b="1" dirty="0" smtClean="0">
                <a:latin typeface="Arial" pitchFamily="34" charset="0"/>
                <a:cs typeface="Arial" pitchFamily="34" charset="0"/>
              </a:rPr>
              <a:t>COORD. SUSTANCIAS Y</a:t>
            </a:r>
          </a:p>
          <a:p>
            <a:pPr algn="ctr"/>
            <a:r>
              <a:rPr lang="en-US" sz="1000" b="1" dirty="0" smtClean="0">
                <a:latin typeface="Arial" pitchFamily="34" charset="0"/>
                <a:cs typeface="Arial" pitchFamily="34" charset="0"/>
              </a:rPr>
              <a:t>MATERIALES PELIGROSOS</a:t>
            </a:r>
          </a:p>
          <a:p>
            <a:pPr algn="ctr"/>
            <a:r>
              <a:rPr lang="en-US" sz="1000" dirty="0" smtClean="0">
                <a:latin typeface="Arial" pitchFamily="34" charset="0"/>
                <a:cs typeface="Arial" pitchFamily="34" charset="0"/>
              </a:rPr>
              <a:t>LIC. CARMEN NARVAEZ</a:t>
            </a:r>
          </a:p>
          <a:p>
            <a:pPr algn="ctr"/>
            <a:r>
              <a:rPr lang="en-US" sz="1000" dirty="0" smtClean="0">
                <a:latin typeface="Arial" pitchFamily="34" charset="0"/>
                <a:cs typeface="Arial" pitchFamily="34" charset="0"/>
              </a:rPr>
              <a:t>CODIGO: 99178</a:t>
            </a:r>
            <a:endParaRPr lang="es-VE" sz="1000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30" name="29 Conector recto"/>
          <p:cNvCxnSpPr>
            <a:stCxn id="5" idx="2"/>
          </p:cNvCxnSpPr>
          <p:nvPr/>
        </p:nvCxnSpPr>
        <p:spPr>
          <a:xfrm flipH="1">
            <a:off x="1360958" y="822833"/>
            <a:ext cx="1" cy="2242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31 Conector recto"/>
          <p:cNvCxnSpPr>
            <a:stCxn id="4" idx="2"/>
          </p:cNvCxnSpPr>
          <p:nvPr/>
        </p:nvCxnSpPr>
        <p:spPr>
          <a:xfrm>
            <a:off x="4535996" y="1307669"/>
            <a:ext cx="0" cy="7531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33 Conector recto"/>
          <p:cNvCxnSpPr/>
          <p:nvPr/>
        </p:nvCxnSpPr>
        <p:spPr>
          <a:xfrm>
            <a:off x="1159233" y="2060848"/>
            <a:ext cx="671547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35 Conector recto"/>
          <p:cNvCxnSpPr/>
          <p:nvPr/>
        </p:nvCxnSpPr>
        <p:spPr>
          <a:xfrm>
            <a:off x="1187622" y="2060848"/>
            <a:ext cx="2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37 Conector recto"/>
          <p:cNvCxnSpPr>
            <a:endCxn id="8" idx="0"/>
          </p:cNvCxnSpPr>
          <p:nvPr/>
        </p:nvCxnSpPr>
        <p:spPr>
          <a:xfrm>
            <a:off x="3534696" y="2060848"/>
            <a:ext cx="1" cy="3508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39 Conector recto"/>
          <p:cNvCxnSpPr>
            <a:endCxn id="9" idx="0"/>
          </p:cNvCxnSpPr>
          <p:nvPr/>
        </p:nvCxnSpPr>
        <p:spPr>
          <a:xfrm>
            <a:off x="5821027" y="2060848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41 Conector recto"/>
          <p:cNvCxnSpPr/>
          <p:nvPr/>
        </p:nvCxnSpPr>
        <p:spPr>
          <a:xfrm>
            <a:off x="7884367" y="2060848"/>
            <a:ext cx="1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45 Conector recto"/>
          <p:cNvCxnSpPr>
            <a:stCxn id="7" idx="2"/>
            <a:endCxn id="11" idx="0"/>
          </p:cNvCxnSpPr>
          <p:nvPr/>
        </p:nvCxnSpPr>
        <p:spPr>
          <a:xfrm flipH="1">
            <a:off x="1216140" y="3128774"/>
            <a:ext cx="1" cy="5162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47 Conector recto"/>
          <p:cNvCxnSpPr>
            <a:stCxn id="11" idx="2"/>
          </p:cNvCxnSpPr>
          <p:nvPr/>
        </p:nvCxnSpPr>
        <p:spPr>
          <a:xfrm>
            <a:off x="1216140" y="4199022"/>
            <a:ext cx="1" cy="3943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53 Conector recto"/>
          <p:cNvCxnSpPr/>
          <p:nvPr/>
        </p:nvCxnSpPr>
        <p:spPr>
          <a:xfrm>
            <a:off x="1187624" y="5301208"/>
            <a:ext cx="0" cy="432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58 Conector recto"/>
          <p:cNvCxnSpPr>
            <a:stCxn id="8" idx="2"/>
          </p:cNvCxnSpPr>
          <p:nvPr/>
        </p:nvCxnSpPr>
        <p:spPr>
          <a:xfrm flipH="1">
            <a:off x="3534696" y="3273484"/>
            <a:ext cx="1" cy="5155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64 Conector recto"/>
          <p:cNvCxnSpPr>
            <a:stCxn id="14" idx="2"/>
          </p:cNvCxnSpPr>
          <p:nvPr/>
        </p:nvCxnSpPr>
        <p:spPr>
          <a:xfrm flipH="1">
            <a:off x="3558632" y="4365104"/>
            <a:ext cx="1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68 Conector recto"/>
          <p:cNvCxnSpPr/>
          <p:nvPr/>
        </p:nvCxnSpPr>
        <p:spPr>
          <a:xfrm flipH="1">
            <a:off x="3563888" y="5433030"/>
            <a:ext cx="1" cy="3124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71 Conector recto"/>
          <p:cNvCxnSpPr>
            <a:stCxn id="9" idx="2"/>
          </p:cNvCxnSpPr>
          <p:nvPr/>
        </p:nvCxnSpPr>
        <p:spPr>
          <a:xfrm>
            <a:off x="5821027" y="3128774"/>
            <a:ext cx="0" cy="3745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73 Conector recto"/>
          <p:cNvCxnSpPr/>
          <p:nvPr/>
        </p:nvCxnSpPr>
        <p:spPr>
          <a:xfrm flipH="1">
            <a:off x="5868144" y="4365104"/>
            <a:ext cx="1692" cy="2183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75 Conector recto"/>
          <p:cNvCxnSpPr/>
          <p:nvPr/>
        </p:nvCxnSpPr>
        <p:spPr>
          <a:xfrm flipH="1">
            <a:off x="7884367" y="3282662"/>
            <a:ext cx="1" cy="3745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81 Conector recto"/>
          <p:cNvCxnSpPr>
            <a:stCxn id="21" idx="2"/>
          </p:cNvCxnSpPr>
          <p:nvPr/>
        </p:nvCxnSpPr>
        <p:spPr>
          <a:xfrm>
            <a:off x="7904323" y="4365104"/>
            <a:ext cx="0" cy="2282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85 Conector recto"/>
          <p:cNvCxnSpPr>
            <a:stCxn id="22" idx="2"/>
          </p:cNvCxnSpPr>
          <p:nvPr/>
        </p:nvCxnSpPr>
        <p:spPr>
          <a:xfrm>
            <a:off x="7874706" y="5289014"/>
            <a:ext cx="9661" cy="3002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87 Conector recto de flecha"/>
          <p:cNvCxnSpPr/>
          <p:nvPr/>
        </p:nvCxnSpPr>
        <p:spPr>
          <a:xfrm flipH="1">
            <a:off x="1475656" y="892170"/>
            <a:ext cx="165618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88 Rectángulo"/>
          <p:cNvSpPr/>
          <p:nvPr/>
        </p:nvSpPr>
        <p:spPr>
          <a:xfrm>
            <a:off x="7018630" y="174560"/>
            <a:ext cx="217666" cy="14817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90" name="89 Rectángulo"/>
          <p:cNvSpPr/>
          <p:nvPr/>
        </p:nvSpPr>
        <p:spPr>
          <a:xfrm>
            <a:off x="7020507" y="481482"/>
            <a:ext cx="215789" cy="139206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91" name="90 Rectángulo"/>
          <p:cNvSpPr/>
          <p:nvPr/>
        </p:nvSpPr>
        <p:spPr>
          <a:xfrm>
            <a:off x="7018630" y="764704"/>
            <a:ext cx="217666" cy="13849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 dirty="0"/>
          </a:p>
        </p:txBody>
      </p:sp>
      <p:sp>
        <p:nvSpPr>
          <p:cNvPr id="92" name="91 CuadroTexto"/>
          <p:cNvSpPr txBox="1"/>
          <p:nvPr/>
        </p:nvSpPr>
        <p:spPr>
          <a:xfrm>
            <a:off x="7236296" y="188640"/>
            <a:ext cx="128112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 smtClean="0">
                <a:latin typeface="Arial" pitchFamily="34" charset="0"/>
                <a:cs typeface="Arial" pitchFamily="34" charset="0"/>
              </a:rPr>
              <a:t>DIRECCION GENERAL</a:t>
            </a:r>
            <a:endParaRPr lang="es-VE" sz="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3" name="92 CuadroTexto"/>
          <p:cNvSpPr txBox="1"/>
          <p:nvPr/>
        </p:nvSpPr>
        <p:spPr>
          <a:xfrm>
            <a:off x="7236296" y="476672"/>
            <a:ext cx="13564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 smtClean="0">
                <a:latin typeface="Arial" pitchFamily="34" charset="0"/>
                <a:cs typeface="Arial" pitchFamily="34" charset="0"/>
              </a:rPr>
              <a:t>DIRECTORES DE LINEA</a:t>
            </a:r>
            <a:endParaRPr lang="es-VE" sz="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4" name="93 CuadroTexto"/>
          <p:cNvSpPr txBox="1"/>
          <p:nvPr/>
        </p:nvSpPr>
        <p:spPr>
          <a:xfrm>
            <a:off x="7236296" y="764704"/>
            <a:ext cx="110318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 smtClean="0">
                <a:latin typeface="Arial" pitchFamily="34" charset="0"/>
                <a:cs typeface="Arial" pitchFamily="34" charset="0"/>
              </a:rPr>
              <a:t>COORDINADORES</a:t>
            </a:r>
            <a:endParaRPr lang="es-VE" sz="8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571610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232</Words>
  <Application>Microsoft Office PowerPoint</Application>
  <PresentationFormat>Presentación en pantalla (4:3)</PresentationFormat>
  <Paragraphs>73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2" baseType="lpstr">
      <vt:lpstr>Tema de Office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Eskerly</dc:creator>
  <cp:lastModifiedBy>Eskerly</cp:lastModifiedBy>
  <cp:revision>7</cp:revision>
  <dcterms:created xsi:type="dcterms:W3CDTF">2015-11-23T21:08:18Z</dcterms:created>
  <dcterms:modified xsi:type="dcterms:W3CDTF">2016-07-28T00:55:42Z</dcterms:modified>
</cp:coreProperties>
</file>